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275" r:id="rId3"/>
    <p:sldId id="311" r:id="rId4"/>
    <p:sldId id="294" r:id="rId5"/>
    <p:sldId id="295" r:id="rId6"/>
    <p:sldId id="279" r:id="rId7"/>
    <p:sldId id="280" r:id="rId8"/>
    <p:sldId id="281" r:id="rId9"/>
    <p:sldId id="282" r:id="rId10"/>
    <p:sldId id="283" r:id="rId11"/>
    <p:sldId id="296" r:id="rId12"/>
    <p:sldId id="297" r:id="rId13"/>
    <p:sldId id="286" r:id="rId14"/>
    <p:sldId id="298" r:id="rId15"/>
    <p:sldId id="300" r:id="rId16"/>
    <p:sldId id="302" r:id="rId17"/>
    <p:sldId id="289" r:id="rId18"/>
    <p:sldId id="290" r:id="rId19"/>
    <p:sldId id="306" r:id="rId20"/>
    <p:sldId id="309" r:id="rId21"/>
    <p:sldId id="31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54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576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直流母线 光储充 控制系统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技术交流  ·  v0.3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7315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7E0"/>
                </a:solidFill>
              </a:rPr>
              <a:t>基于 README v0.3  ·  2026-05-13  ·  v0.1 (mode 真值表) → v0.2 (A/B/C 路由) → v0.3 (孤岛 / 灰度 / 合规)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3383280" cy="548640"/>
          </a:xfrm>
          <a:prstGeom prst="rect">
            <a:avLst/>
          </a:prstGeom>
          <a:solidFill>
            <a:srgbClr val="1A3A6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本地为主、SOC 为引导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5120640"/>
            <a:ext cx="3383280" cy="548640"/>
          </a:xfrm>
          <a:prstGeom prst="rect">
            <a:avLst/>
          </a:prstGeom>
          <a:solidFill>
            <a:srgbClr val="1A3A66"/>
          </a:solidFill>
          <a:ln w="12700">
            <a:solidFill>
              <a:srgbClr val="FF9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5120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F4A"/>
                </a:solidFill>
              </a:rPr>
              <a:t>EMS 是傻执行器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5120640"/>
            <a:ext cx="3383280" cy="548640"/>
          </a:xfrm>
          <a:prstGeom prst="rect">
            <a:avLst/>
          </a:prstGeom>
          <a:solidFill>
            <a:srgbClr val="1A3A66"/>
          </a:solidFill>
          <a:ln w="12700">
            <a:solidFill>
              <a:srgbClr val="FFB8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38160" y="5120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71"/>
                </a:solidFill>
              </a:rPr>
              <a:t>云做思考，边缘做反应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DC Bus PV + BESS + EV Fast Charging — Edge-First, Cloud-Advisory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7493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议程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业务定位与本版本范围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光储能 → 光储充；EMS 做什么 / 不做什么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091153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新控制逻辑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A/B/C/D 优先级 + 三档时间常数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91153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200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云-边契约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3200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advisory schema + SOC band + 灰度上线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1091153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828800" y="4069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状态机 + 可观测性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0" y="4069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5 系统态 + 日志/KPI/Shadow delta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1091153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" y="493776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937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82880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BusMan 代码迁移路线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0" y="49377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 Steps · 约 3–4 个月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2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9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公共直流快充站 · 光储充一体化（光储能 → 光储充）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91440" cy="4846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硬件容量与场景参数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194560"/>
            <a:ext cx="246888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BESS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</a:rPr>
              <a:t>250 kWh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锂电池组 + BMS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194560"/>
            <a:ext cx="2468880" cy="1554480"/>
          </a:xfrm>
          <a:prstGeom prst="rect">
            <a:avLst/>
          </a:prstGeom>
          <a:solidFill>
            <a:srgbClr val="CADCFC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9F"/>
                </a:solidFill>
              </a:rPr>
              <a:t>PCS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</a:rPr>
              <a:t>30 / 60 kW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双向（充/放）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2468880" cy="1554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EV 单枪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</a:rPr>
              <a:t>240 kW DC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CCS/GBT，N 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194560"/>
            <a:ext cx="2468880" cy="15544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PV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</a:rPr>
              <a:t>容量 TBD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96112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DC 母线直挂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与上一代 telcoman 的关系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434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59669"/>
                </a:solidFill>
              </a:rPr>
              <a:t>沿用：</a:t>
            </a:r>
            <a:r>
              <a:rPr lang="en-US" sz="1200" dirty="0">
                <a:solidFill>
                  <a:srgbClr val="334155"/>
                </a:solidFill>
              </a:rPr>
              <a:t>Modbus 寄存器映射、双进程架构（busman 采集 + controller 决策）、Redis 总线、ThingsBoard MQTT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9E0B"/>
                </a:solidFill>
              </a:rPr>
              <a:t>重做：</a:t>
            </a:r>
            <a:r>
              <a:rPr lang="en-US" sz="1200" dirty="0">
                <a:solidFill>
                  <a:srgbClr val="334155"/>
                </a:solidFill>
              </a:rPr>
              <a:t>状态机（7 mode 真值表 → 6 系统态 + A/B/C 路由）、云-边接口（mode 下发 → SOC band advisory + weight 旋钮）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2626"/>
                </a:solidFill>
              </a:rPr>
              <a:t>删除：</a:t>
            </a:r>
            <a:r>
              <a:rPr lang="en-US" sz="1200" dirty="0">
                <a:solidFill>
                  <a:srgbClr val="334155"/>
                </a:solidFill>
              </a:rPr>
              <a:t>本地优化栈（cvxpy LP + ARIMAX + XGBoost 约 1400 行）、dispatch_bridge（374 行）；预测和优化全部上云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</a:rPr>
              <a:t>新增：</a:t>
            </a:r>
            <a:r>
              <a:rPr lang="en-US" sz="1200" dirty="0">
                <a:solidFill>
                  <a:srgbClr val="334155"/>
                </a:solidFill>
              </a:rPr>
              <a:t>EV 桩接入（OCPP + Modbus 0x0900-09FF）、SOC 概率走廊 p10/p50/p90、advisory_weight 灰度旋钮、SOFT/HARD HOLD + ISLAND_AC 兜底、动态 MIC margin、shadow delta 上报</a:t>
            </a:r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3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8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本版本范围（Scope）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EMS 越简单越好：bug 表面积小、调试可预测、7×24 可维护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✓  本地 EMS 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按 SOC band 引导（不精确跟踪）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Routing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按 A/B/C 优先级路由功率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9776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在 D 限制（MIC/BMS/物理边界）内执行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Telemetry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上行状态、D 触发日志、Shadow delta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1417320"/>
            <a:ext cx="53492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  本地 EMS 不做（在别处）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2130552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预测 / 优化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云端：LP/QP/ML 模型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285292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2825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经济性建模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3145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云端：套利收益、IRR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575304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440" y="35478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EV 公平分配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3867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桩端：OCPP ChargingProfile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29768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4270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BESS SOC 估计 / 均衡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4590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BMS 固件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5020056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49440" y="49926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PCS 电压电流环 + DC 母线电压控制</a:t>
            </a:r>
          </a:p>
        </p:txBody>
      </p:sp>
      <p:sp>
        <p:nvSpPr>
          <p:cNvPr id="46" name="Text 44"/>
          <p:cNvSpPr/>
          <p:nvPr/>
        </p:nvSpPr>
        <p:spPr>
          <a:xfrm>
            <a:off x="6949440" y="5312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PCS 厂商：既是 AC↔DC 接口，也是 DC 母线电压源</a:t>
            </a:r>
          </a:p>
        </p:txBody>
      </p:sp>
      <p:sp>
        <p:nvSpPr>
          <p:cNvPr id="47" name="Shape 45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296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OCPP 边界：</a:t>
            </a:r>
            <a:r>
              <a:rPr lang="en-US" sz="1200" dirty="0">
                <a:solidFill>
                  <a:srgbClr val="334155"/>
                </a:solidFill>
              </a:rPr>
              <a:t>EMS 只下发 P_gun_pool_max 总盘子；per-枪分配由 OCPP 站控 (SiteSupervisor) 负责，EMS 不感知 per-gun 细节。</a:t>
            </a:r>
            <a:r>
              <a:rPr lang="en-US" sz="1200" b="1" dirty="0">
                <a:solidFill>
                  <a:srgbClr val="F59E0B"/>
                </a:solidFill>
              </a:rPr>
              <a:t>　原则：</a:t>
            </a:r>
            <a:r>
              <a:rPr lang="en-US" sz="1200" dirty="0">
                <a:solidFill>
                  <a:srgbClr val="334155"/>
                </a:solidFill>
              </a:rPr>
              <a:t>任何把『思考』或『优化』塞回 EMS 的需求，默认拒绝。</a:t>
            </a:r>
          </a:p>
        </p:txBody>
      </p:sp>
      <p:sp>
        <p:nvSpPr>
          <p:cNvPr id="49" name="Text 47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4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4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母线拓扑（提示）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PCS 单点接网 · DC 母线作为枢纽 · 双向 PCS 既是 AC↔DC 接口，也是 DC 母线电压源</a:t>
            </a:r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2103120"/>
            <a:ext cx="14630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</a:rPr>
              <a:t>AC 电网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146304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PoC 电表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227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0x4022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14630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双向 PCS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30/60 kW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4754880"/>
            <a:ext cx="146304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754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站内 AC 负荷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2606040"/>
            <a:ext cx="0" cy="228600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0" y="3246120"/>
            <a:ext cx="0" cy="411480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0" cy="1417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AC 配电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4846320"/>
            <a:ext cx="7772400" cy="3200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4846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DC 母线 750–1000 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3886200"/>
            <a:ext cx="365760" cy="0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6080" y="3886200"/>
            <a:ext cx="0" cy="960120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08960" y="5577840"/>
            <a:ext cx="146304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0" y="5577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PV DC/DC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6080760"/>
            <a:ext cx="146304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PV 阵列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5166360"/>
            <a:ext cx="0" cy="41148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5577840"/>
            <a:ext cx="146304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5577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Bi-DC/DC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6080760"/>
            <a:ext cx="14630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BESS 250kWh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5166360"/>
            <a:ext cx="0" cy="4114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0" y="5577840"/>
            <a:ext cx="109728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5577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EV #1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6080760"/>
            <a:ext cx="109728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6080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240 kW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5166360"/>
            <a:ext cx="0" cy="41148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863840" y="5577840"/>
            <a:ext cx="109728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63840" y="5577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EV #2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63840" y="6080760"/>
            <a:ext cx="109728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63840" y="6080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240 kW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0" y="5166360"/>
            <a:ext cx="0" cy="41148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144000" y="5577840"/>
            <a:ext cx="109728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0" y="5577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EV #3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0" y="6080760"/>
            <a:ext cx="109728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0" y="6080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240 kW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692640" y="5166360"/>
            <a:ext cx="0" cy="411480"/>
          </a:xfrm>
          <a:prstGeom prst="line">
            <a:avLst/>
          </a:prstGeom>
          <a:noFill/>
          <a:ln w="381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144000" y="2103120"/>
            <a:ext cx="21945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1440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telcoman 边缘 EMS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本地为主 · SOC 引导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L1 200ms · L2 1s · L3 30min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83680" y="2011680"/>
            <a:ext cx="1828800" cy="7315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836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云端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836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advisory 30min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412480" y="2377440"/>
            <a:ext cx="731520" cy="27432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5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2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新控制逻辑总览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本地为主、SOC 为引导：A/B/C 路由 + D 兜底 + 三档时间常数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51525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515258" cy="50292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 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L3 · 云端 advisory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远程，引导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云端消化 4 类预测（day-ahead）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下发 SOC band（P10/P50/P90）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下发 allow_sell / allow_buy_grid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TTL 过期 → 切默认保守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8218" y="1554480"/>
            <a:ext cx="351525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38218" y="1554480"/>
            <a:ext cx="3515258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1098" y="160020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 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1098" y="21031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L2 · 协调环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1098" y="24688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本地自主，主决策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66818" y="292608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C 列表：PV 利用（车→负荷→网）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A 列表：BESS 放电（车+负荷→卖电）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B 列表：BESS 充电（光伏→电网）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D-1 负荷优先 / D-5 桩故障 校验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套利 A-3/B-2 由 advisory 解锁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6357" y="1554480"/>
            <a:ext cx="351525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36357" y="1554480"/>
            <a:ext cx="3515258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19237" y="160020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200 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19237" y="21031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L1 · D 快环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9237" y="24688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本地，硬约束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4957" y="2926080"/>
            <a:ext cx="305805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D-2 MIC 守门（反馈式）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D-3 BESS 物理边界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D-4 BMS 告警兜底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L1' 事件中断：BMS 一级告警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</a:rPr>
              <a:t>过限就剪，不参与策略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6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9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BESS 放电优先级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≤ 60 kW · 受 SOC 下限保护 · 每协调环重新评估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645920" y="155448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支援 EV 充电（聚合 AC 负荷）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BESS 看到的是 (EV + AC 负荷) 合并净需求；按最大放电 60 kW 出力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本地自主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645920" y="265176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抵扣站内 AC 负荷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无 EV 充电时仍放电填负荷，减少买电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本地自主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645920" y="374904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卖电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82880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前两项满足且 SOC 偏高 + MIC_export 余量 + allow_sell = true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14255" y="3886200"/>
            <a:ext cx="155448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14255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需云解锁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工程要点：</a:t>
            </a:r>
            <a:r>
              <a:rPr lang="en-US" sz="1300" dirty="0">
                <a:solidFill>
                  <a:srgbClr val="0F172A"/>
                </a:solidFill>
              </a:rPr>
              <a:t>A 列表每协调周期重新评估 — 任何时刻 EV 进站立刻把 BESS 从 A-3 卖电召回 A-1。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BESS 看到的就是合并的净需求；具体如何被 EV/AC负荷瓜分由 DC 母线自然完成，EMS 不区分。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7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9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BESS 充电优先级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≤ 30 kW · 受 SOC 上限保护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645920" y="155448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光伏（PV 余量）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PV 出力 &gt; 负荷 + 充电 → 余量充 BESS。本地必然执行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本地自主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645920" y="265176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电网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SOC &lt; SOC*(t) band 下限 + advisory.allow_buy_grid = true（如谷电窗口）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需云解锁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911535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为什么 B 列表只有 2 项？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6177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BESS 充电的电只有两个来源：自家发的（光伏）和外面买的（电网）。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B-1 PV 余量是免费的，本地见到余量就吃，不需要云授权。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B-2 电网充要花钱、要占 MIC 进网容量，必须云端确认（谷电 + SOC 偏低）才划算。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云 TTL 过期 → B-2 视为禁用，本地只跑 B-1。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8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PV 利用优先级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PV 出力按 给车 → 给负荷 → 给电网 自上而下消化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645920" y="155448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给车（直供 EV 充电）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DC 母线最短路径，效率最高；优先满足在站 EV 请求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14255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本地自主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645920" y="265176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给负荷（直供站内 AC）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经 PCS 反向，给站内辅助设备（照明 / HVAC / 安防）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4255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本地自主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645920" y="3749040"/>
            <a:ext cx="99056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给电网（卖电）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82880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前两项消化不完的余量 → 卖电（受 MIC_export 限 + allow_sell）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14255" y="3886200"/>
            <a:ext cx="155448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14255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需云解锁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兜底（不列入 C，自动发生）：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前 3 项消化不完的 PV 余量 → 自动经 B-1 进 BESS；BESS 满后 PV DC/DC 退 MPPT 限发。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9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9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限制约束（全局硬约束）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任何 A/B/C 动作不可突破；分级守底 200 ms / 1 s / 事件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solidFill>
            <a:srgbClr val="0F2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代号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名称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规则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评估周期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1091153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D-1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288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负荷优先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18288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PV/BESS 放电必须先满足 (AC 负荷 + 已握手 EV)；未满足时禁止卖电/出网；无法满足 → SAFE_HOLD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38360" y="2057400"/>
            <a:ext cx="17830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3836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1 s 协调环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697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D-2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6974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MIC 守门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26974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 PoC 电表 (0x4022) 为准，反馈式：overshoot = P_PoC − (MIC − margin)；margin 动态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2926080"/>
            <a:ext cx="17830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3836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200 ms 快环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1091153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566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D-3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BESS 物理边界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35661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SOC ∈ [hard_min, hard_max]；单体电压、温度；越限立即停 BESS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38360" y="3794760"/>
            <a:ext cx="17830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73836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200 ms 快环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10911535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4434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D-4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434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BMS 一级告警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4434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0x0764 事件驱动 + 200 ms 兜底；触发 → 停 BESS + HARD_HOLD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38360" y="4663440"/>
            <a:ext cx="17830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38360" y="4663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事件 + 200 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303520"/>
            <a:ext cx="1091153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53035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D-5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5303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桩端故障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834640" y="53035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单枪退出，其余继续；多桩同时故障 → DEGRADED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38360" y="5532120"/>
            <a:ext cx="1783080" cy="4114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738360" y="5532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1 s 协调环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10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云-边契约（advisory v0.3）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SOC 概率走廊 + allow_* 解锁位 + advisory_weight 灰度旋钮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94360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advisory.json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5577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"schema_version": "0.3",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"issued_at": "2026-05-12T08:00:00Z",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"horizon_hours": 24,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"tick_minutes": 30,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"soc_band":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{"t_offset_min":0,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"soc_p50_pct":35,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"soc_p10_pct":25,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"soc_p90_pct":50},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"constraints":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"p_mic_import_kw": 80,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"p_mic_export_kw": 35,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"p_mic_margin_kw":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"base":5, "by_band_hour":[/*len=24*/]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"soc_hard_min_pct": 10,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"soc_hard_max_pct": 95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"allow_sell": 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"allow_buy_grid": 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"ttl_sec": 1800,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"advisory_weight": 0.0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55448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schema_version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协议版本号，向后兼容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46888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246888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soc_band P10/P50/P90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概率走廊（不是精确轨迹）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38328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0" y="3383280"/>
            <a:ext cx="73152" cy="77724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allow_sell / allow_buy_grid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解锁套利项 A-3 / B-2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429768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429768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p_mic_margin_kw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动态 margin：base + by_band_hour（定长 24）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521208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0" y="521208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advisory_weight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0 = 影子模式；1 = 完全跟随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11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7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advisory_weight</a:t>
            </a: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灰度上线</a:t>
            </a:r>
            <a:r>
              <a:rPr lang="zh-CN" alt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（</a:t>
            </a:r>
            <a:r>
              <a:rPr lang="en-US" altLang="zh-CN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r>
              <a:rPr lang="zh-CN" alt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影子模式 → 试套利 → 常规套利 → 完全跟随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590724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590724" cy="13716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weight = 0.0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0.0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影子模式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云发但边缘不动作，计算 delta 上行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4663440"/>
            <a:ext cx="1676324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167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1–2 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3684" y="1554480"/>
            <a:ext cx="2590724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13684" y="1554480"/>
            <a:ext cx="2590724" cy="137160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3684" y="16916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weight = 0.3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3684" y="205740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0.3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3596564" y="310896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试套利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96564" y="356616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A-3/B-2 小幅启用，密切监控 MIC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70884" y="4663440"/>
            <a:ext cx="1676324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70884" y="4663440"/>
            <a:ext cx="167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9F"/>
                </a:solidFill>
              </a:rPr>
              <a:t>2–4 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7288" y="1554480"/>
            <a:ext cx="2590724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87288" y="1554480"/>
            <a:ext cx="2590724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87288" y="16916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weight = 0.7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87288" y="205740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0.7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6370168" y="310896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常规套利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70168" y="356616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套利项常规启用，评估经济性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44488" y="4663440"/>
            <a:ext cx="1676324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44488" y="4663440"/>
            <a:ext cx="167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1 月+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60891" y="1554480"/>
            <a:ext cx="2590724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60891" y="1554480"/>
            <a:ext cx="2590724" cy="1371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960891" y="16916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weight = 1.0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0891" y="205740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1.0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9143771" y="310896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完全跟随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43771" y="356616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advisory 完全生效，准备 V2G 扩展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18091" y="4663440"/>
            <a:ext cx="1676324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091" y="4663440"/>
            <a:ext cx="1676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稳态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</a:rPr>
              <a:t>weight 怎么作用？</a:t>
            </a:r>
            <a:r>
              <a:rPr lang="en-US" sz="1200" i="1" dirty="0">
                <a:solidFill>
                  <a:srgbClr val="334155"/>
                </a:solidFill>
              </a:rPr>
              <a:t> 线性缩放套利项功率上限：K_max_A3 = 60 − P_bess_dis_baseline，套利上限 = weight · K_max。</a:t>
            </a:r>
            <a:r>
              <a:rPr lang="en-US" sz="1200" b="1" i="1" dirty="0">
                <a:solidFill>
                  <a:srgbClr val="DC2626"/>
                </a:solidFill>
              </a:rPr>
              <a:t>weight 不影响 A-1 / A-2 / B-1 等安全相关本地动作。</a:t>
            </a:r>
            <a:r>
              <a:rPr lang="en-US" sz="1200" i="1" dirty="0">
                <a:solidFill>
                  <a:srgbClr val="334155"/>
                </a:solidFill>
              </a:rPr>
              <a:t>　weight=0 即影子：云照常发，本地按 A/B/C/D 跑，同时算『假如 weight=1 会动哪里』上行 delta。</a:t>
            </a:r>
          </a:p>
        </p:txBody>
      </p:sp>
      <p:sp>
        <p:nvSpPr>
          <p:cNvPr id="40" name="Text 3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12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三档时间常数</a:t>
            </a:r>
            <a:r>
              <a:rPr lang="zh-CN" alt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（</a:t>
            </a:r>
            <a:r>
              <a:rPr lang="en-US" altLang="zh-CN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r>
              <a:rPr lang="zh-CN" alt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30 min / 1 s / 200 ms / 事件 — 从慢到快的责任传递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645920" cy="91440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30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引导，非控制律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91741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L3 · 云端 advisory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advisory 刷新（SOC band, allow_*, margin）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64592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 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本地主决策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2697480"/>
            <a:ext cx="91741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L2 · 协调环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A/B/C 决策 + D-1 + D-5 校验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1645920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200 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硬约束兜底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3840480"/>
            <a:ext cx="91741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L1 · D 快环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603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D-2 MIC 守门 + D-3 BESS 物理 + D-4 BMS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645920" cy="9144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事件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立即响应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4983480"/>
            <a:ext cx="91741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L1' · 中断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032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BMS 一级告警 → SAFE_HOLD（&lt;100 ms）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13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37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控制环伪代码摘要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L1 快环（200 ms）+ L2 协调环（1 s）— 两个独立 asyncio task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 快环 · 200 ms · D 守门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每 200 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读 P_PoC (0x4022), P_bess (0x0716),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SOC (0x075F), BMS 告警 (0x0764)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D-4 BMS 告警（事件 + 兜底）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BMS 一级告警: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P_bess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→ HARD_HOLD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D-2 MIC 守门（反馈式）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margin = 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高活动窗: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margin = max(margin, band_hour[h])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P_PoC &gt; MIC_import − margin: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overshoot = P_PoC − (MIC − margin)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等比剪：P_gun_pool, P_bess_chg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-P_PoC &gt; MIC_export − margin: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overshoot = -P_PoC − (MIC_exp − margin)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等比剪：P_bess_dis, P_pv_setpoint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D-3 BESS 物理边界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SOC ≤ hard_min: P_bess_dis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SOC ≥ hard_max: P_bess_chg =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5349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 协调环 · 1 s · A/B/C 决策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每 1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0  测量 + 读 advisory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1  D 自检（BMS / 多桩 / PoC 链路）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→ 触发 → SAFE_HOLD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2  C 列表：PV 利用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P_to_EV_from_pv = min(P_pv, Σ gun_req)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P_to_load = min(剩余 P_pv, P_load)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P_pv_surplus =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3  A 或 B 自动判定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P_residual = (Σ gun + P_load) − PV 已供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if P_residual &gt; 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P_bess_dis = min(60, P_residual)  # A-1+A-2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P_grid_in = ...  # 不够下发 pool 给桩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P_bess_chg = min(30, P_pv_surplus)  # B-1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4  套利（soc_p10/p50/p90）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K_max_A3 = 60 − P_bess_dis_baseline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P_A3 = weight · K_max_A3  # 不影响 A-1/A-2/B-1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5  D-1 负荷优先校验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6  D-2 MIC 预校验（L1 会再剪）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STEP 7  写 Modbus + 上行（含 shadow delta）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14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8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40AF"/>
                </a:solidFill>
              </a:rPr>
              <a:t>02f+</a:t>
            </a:r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符号与单位约定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所有功率符号、单位、分辨率 — 避免 PoC / PCS / BESS / PV / 枪侧歧义</a:t>
            </a:r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电网侧 + 站级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P_PoC</a:t>
            </a:r>
            <a:r>
              <a:rPr lang="en-US" sz="1200" dirty="0">
                <a:solidFill>
                  <a:srgbClr val="E2E8F0"/>
                </a:solidFill>
              </a:rPr>
              <a:t>　进网为 +、出网为 −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200ms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电表 0x4022 实测；MIC 守门以此为准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P_pcs</a:t>
            </a:r>
            <a:r>
              <a:rPr lang="en-US" sz="1200" dirty="0">
                <a:solidFill>
                  <a:srgbClr val="E2E8F0"/>
                </a:solidFill>
              </a:rPr>
              <a:t>　AC→DC 充 +、DC→AC 放 −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200ms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0x0716；PCS 既是 AC↔DC 接口也是 DC 母线电压源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P_load</a:t>
            </a:r>
            <a:r>
              <a:rPr lang="en-US" sz="1200" dirty="0">
                <a:solidFill>
                  <a:srgbClr val="E2E8F0"/>
                </a:solidFill>
              </a:rPr>
              <a:t>　总为 +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站内 AC 负荷（照明 / HVAC / 安防）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P_gun_pool</a:t>
            </a:r>
            <a:r>
              <a:rPr lang="en-US" sz="1200" dirty="0">
                <a:solidFill>
                  <a:srgbClr val="E2E8F0"/>
                </a:solidFill>
              </a:rPr>
              <a:t>　EMS 下发总盘子，+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OCPP 站控 per-枪分配；EMS 不感知 per-gun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5349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BESS / PV / 枪</a:t>
            </a:r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P_bess</a:t>
            </a:r>
            <a:r>
              <a:rPr lang="en-US" sz="1200" dirty="0">
                <a:solidFill>
                  <a:srgbClr val="E2E8F0"/>
                </a:solidFill>
              </a:rPr>
              <a:t>　充 +、放 −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BMS 上报；与 P_pcs 同号但 ≤ |P_pcs|（含损耗）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SOC</a:t>
            </a:r>
            <a:r>
              <a:rPr lang="en-US" sz="1200" dirty="0">
                <a:solidFill>
                  <a:srgbClr val="E2E8F0"/>
                </a:solidFill>
              </a:rPr>
              <a:t>　0–100　</a:t>
            </a:r>
            <a:r>
              <a:rPr lang="en-US" sz="1200" b="1" dirty="0">
                <a:solidFill>
                  <a:srgbClr val="FCD34D"/>
                </a:solidFill>
              </a:rPr>
              <a:t>%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0x075F；soc_p10/p50/p90 由云 advisory 给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P_pv</a:t>
            </a:r>
            <a:r>
              <a:rPr lang="en-US" sz="1200" dirty="0">
                <a:solidFill>
                  <a:srgbClr val="E2E8F0"/>
                </a:solidFill>
              </a:rPr>
              <a:t>　发出为 +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0x0706；DC/DC 直挂母线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Liberation Mono"/>
              </a:rPr>
              <a:t>P_gun_i</a:t>
            </a:r>
            <a:r>
              <a:rPr lang="en-US" sz="1200" dirty="0">
                <a:solidFill>
                  <a:srgbClr val="E2E8F0"/>
                </a:solidFill>
              </a:rPr>
              <a:t>　单枪实际 +　</a:t>
            </a:r>
            <a:r>
              <a:rPr lang="en-US" sz="1200" b="1" dirty="0">
                <a:solidFill>
                  <a:srgbClr val="FCD34D"/>
                </a:solidFill>
              </a:rPr>
              <a:t>kW</a:t>
            </a:r>
            <a:r>
              <a:rPr lang="en-US" sz="1100" dirty="0">
                <a:solidFill>
                  <a:srgbClr val="94A3B8"/>
                </a:solidFill>
              </a:rPr>
              <a:t>　1s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0x0900–09FF；EMS 只用聚合 Σ，不下发 per-gun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15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65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B6B4EEF-A258-1E48-ACF6-BE0401A2237C}"/>
              </a:ext>
            </a:extLst>
          </p:cNvPr>
          <p:cNvSpPr/>
          <p:nvPr/>
        </p:nvSpPr>
        <p:spPr>
          <a:xfrm>
            <a:off x="6680200" y="5397500"/>
            <a:ext cx="5029200" cy="558800"/>
          </a:xfrm>
          <a:prstGeom prst="rect">
            <a:avLst/>
          </a:prstGeom>
          <a:solidFill>
            <a:srgbClr val="FEF3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2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状态机：</a:t>
            </a:r>
            <a:r>
              <a:rPr lang="en-US" altLang="ja-JP" sz="2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ja-JP" altLang="en-US" sz="2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系统态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M0–M6 mode 真值表已取消；mode 改为日志侧的派生标签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正常路径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异常 / 降级 / 兜底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5029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73152" cy="7772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BOOT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上电、自举、加载配置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697480"/>
            <a:ext cx="50292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2697480"/>
            <a:ext cx="73152" cy="77724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9F"/>
                </a:solidFill>
              </a:rPr>
              <a:t>SELF_TEST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组件握手 + Modbus 自检 + 云链路 + SOC ∈ [hard_min+5%, hard_max−5%]</a:t>
            </a:r>
          </a:p>
        </p:txBody>
      </p:sp>
      <p:sp>
        <p:nvSpPr>
          <p:cNvPr id="17" name="Shape 15"/>
          <p:cNvSpPr/>
          <p:nvPr/>
        </p:nvSpPr>
        <p:spPr>
          <a:xfrm>
            <a:off x="1005840" y="3611880"/>
            <a:ext cx="50292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361188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NORMAL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自检通过 + 云通讯正常；L2 协调环本地自主跑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783080"/>
            <a:ext cx="50292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1783080"/>
            <a:ext cx="73152" cy="7772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DEGRADED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单点故障；降额运行，剔除故障组件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697480"/>
            <a:ext cx="502920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75120" y="269748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OFFLINE_AUTO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云断 ≥ 5 min；默认保守，TTL 后切默认表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611880"/>
            <a:ext cx="5029200" cy="77724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75120" y="3611880"/>
            <a:ext cx="73152" cy="7772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</a:rPr>
              <a:t>SOFT_HOLD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MIC 偶发 / BMS 二级 / 桩丢包 → 30 s 自动重试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4526280"/>
            <a:ext cx="50292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452628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HARD_HOLD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4937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BMS 一级 / 多桩故障 / DC 母线异常 → 人工复位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989320"/>
            <a:ext cx="10911535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电表失联分级：</a:t>
            </a:r>
            <a:r>
              <a:rPr lang="en-US" sz="1100" dirty="0">
                <a:solidFill>
                  <a:srgbClr val="0F172A"/>
                </a:solidFill>
              </a:rPr>
              <a:t>偶发 &lt; 30s → 不降级 + 加大 margin　|　30s–2min → SOFT_HOLD 重连　|　&gt; 2min → HARD_HOLD</a:t>
            </a:r>
          </a:p>
        </p:txBody>
      </p:sp>
      <p:sp>
        <p:nvSpPr>
          <p:cNvPr id="39" name="Text 37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16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6BD93C-AFA7-024D-8DA0-DED2BEEA0BCB}"/>
              </a:ext>
            </a:extLst>
          </p:cNvPr>
          <p:cNvSpPr txBox="1"/>
          <p:nvPr/>
        </p:nvSpPr>
        <p:spPr>
          <a:xfrm>
            <a:off x="6858000" y="5422900"/>
            <a:ext cx="246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B45309"/>
                </a:solidFill>
              </a:rPr>
              <a:t>ISLAND_AC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B2E5F3-18BB-A442-BE42-2EAF35DFA820}"/>
              </a:ext>
            </a:extLst>
          </p:cNvPr>
          <p:cNvSpPr txBox="1"/>
          <p:nvPr/>
        </p:nvSpPr>
        <p:spPr>
          <a:xfrm>
            <a:off x="6858000" y="56769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100">
                <a:solidFill>
                  <a:srgbClr val="334155"/>
                </a:solidFill>
              </a:rPr>
              <a:t>电网外掉 </a:t>
            </a:r>
            <a:r>
              <a:rPr lang="en-US" altLang="ja-JP" sz="1100">
                <a:solidFill>
                  <a:srgbClr val="334155"/>
                </a:solidFill>
              </a:rPr>
              <a:t>/ </a:t>
            </a:r>
            <a:r>
              <a:rPr lang="en-US" sz="1100">
                <a:solidFill>
                  <a:srgbClr val="334155"/>
                </a:solidFill>
              </a:rPr>
              <a:t>PCS </a:t>
            </a:r>
            <a:r>
              <a:rPr lang="ja-JP" altLang="en-US" sz="1100">
                <a:solidFill>
                  <a:srgbClr val="334155"/>
                </a:solidFill>
              </a:rPr>
              <a:t>失能 → 站内 </a:t>
            </a:r>
            <a:r>
              <a:rPr lang="en-US" sz="1100">
                <a:solidFill>
                  <a:srgbClr val="334155"/>
                </a:solidFill>
              </a:rPr>
              <a:t>AC </a:t>
            </a:r>
            <a:r>
              <a:rPr lang="ja-JP" altLang="en-US" sz="1100">
                <a:solidFill>
                  <a:srgbClr val="334155"/>
                </a:solidFill>
              </a:rPr>
              <a:t>断电，桩辅助受影响，</a:t>
            </a:r>
            <a:r>
              <a:rPr lang="en-US" sz="1100">
                <a:solidFill>
                  <a:srgbClr val="334155"/>
                </a:solidFill>
              </a:rPr>
              <a:t>EV </a:t>
            </a:r>
            <a:r>
              <a:rPr lang="ja-JP" altLang="en-US" sz="1100">
                <a:solidFill>
                  <a:srgbClr val="334155"/>
                </a:solidFill>
              </a:rPr>
              <a:t>仅 </a:t>
            </a:r>
            <a:r>
              <a:rPr lang="en-US" sz="1100">
                <a:solidFill>
                  <a:srgbClr val="334155"/>
                </a:solidFill>
              </a:rPr>
              <a:t>PV+BESS </a:t>
            </a:r>
            <a:r>
              <a:rPr lang="ja-JP" altLang="en-US" sz="1100">
                <a:solidFill>
                  <a:srgbClr val="334155"/>
                </a:solidFill>
              </a:rPr>
              <a:t>经 </a:t>
            </a:r>
            <a:r>
              <a:rPr lang="en-US" sz="1100">
                <a:solidFill>
                  <a:srgbClr val="334155"/>
                </a:solidFill>
              </a:rPr>
              <a:t>DC </a:t>
            </a:r>
            <a:r>
              <a:rPr lang="ja-JP" altLang="en-US" sz="1100">
                <a:solidFill>
                  <a:srgbClr val="334155"/>
                </a:solidFill>
              </a:rPr>
              <a:t>母线（</a:t>
            </a:r>
            <a:r>
              <a:rPr lang="en-US" sz="1100">
                <a:solidFill>
                  <a:srgbClr val="334155"/>
                </a:solidFill>
              </a:rPr>
              <a:t>UK </a:t>
            </a:r>
            <a:r>
              <a:rPr lang="ja-JP" altLang="en-US" sz="1100">
                <a:solidFill>
                  <a:srgbClr val="334155"/>
                </a:solidFill>
              </a:rPr>
              <a:t>概率低，兜底）</a:t>
            </a:r>
            <a:endParaRPr lang="en-US" sz="11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80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寄存器映射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沿用上一代 + 新增 EV / MIC / 健康字 / advisory 通道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3152" cy="48463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沿用（来自原 telcoman）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0x4022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电表总功率（PoC）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0x0716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PCS 当前功率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24612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0x075F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BESS SOC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84048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0x0706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PV 功率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0x0764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BMS 一级告警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029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0x001B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方向 / 目标功率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1417320"/>
            <a:ext cx="53492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1417320"/>
            <a:ext cx="73152" cy="4846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新增（建议）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5080" y="205740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0x0900–09FF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各充电枪状态 / 功率 / P_max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0x0A00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PV 限功率设定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324612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0x0A10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5528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BESS 充/放设定（有符号）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55080" y="384048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0x0A20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MIC 实时进/出 + 余量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443484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6520" y="4434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0x0A30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95528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EMS 健康字 + 云链路状态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55080" y="5029200"/>
            <a:ext cx="475488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652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0x0A40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95528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SOC 跟踪误差 + advisory_weight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17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可观测性（Observability）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7×24 营运的基础：出问题 5 分钟内能定位是云模型错还是本地动作错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27288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{}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结构化日志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91640" y="2121408"/>
            <a:ext cx="1371600" cy="27432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91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回放与定位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每协调环输出 JSON：SOC、各 setpoint、advisory_weight、TTL 剩余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28" y="1463040"/>
            <a:ext cx="527288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53048" y="17373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530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30288" y="1737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关键事件埋点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0288" y="2121408"/>
            <a:ext cx="137160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30288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告警 + 复盘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53048" y="2560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SOFT/HARD HOLD 进出、MIC 越限趋势、advisory 拒绝采纳、桩握手失败、SOC 偏出 P10/P90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527288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91640" y="4023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关键 KPI（云端聚合）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691640" y="4407408"/>
            <a:ext cx="1371600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9164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健康度评估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846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会话成功率、SOC 偏出 band 时长占比、MIC 触发次数、advisory 跟踪误差中位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8728" y="3749040"/>
            <a:ext cx="527288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53048" y="40233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53048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Δ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30288" y="40233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Shadow delta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0288" y="4407408"/>
            <a:ext cx="137160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30288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云模型验证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53048" y="4846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weight=0 时上行『假如 weight=1 会动哪里』的差异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</a:rPr>
              <a:t>排查原则：</a:t>
            </a:r>
            <a:r>
              <a:rPr lang="en-US" sz="1200" i="1" dirty="0">
                <a:solidFill>
                  <a:srgbClr val="64748B"/>
                </a:solidFill>
              </a:rPr>
              <a:t>云模型错（SOC delta 大但本地动作合理）vs 本地动作错（本地动作偏离 A/B/C/D 规则）— 5 分钟内分清。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18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12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40AF"/>
                </a:solidFill>
              </a:rPr>
              <a:t>04b</a:t>
            </a:r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讨论件（不在 EMS 范围，需专题立项）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通讯安全 / 接地与合规 / 接口语义 — 现状 + 待决策 + 负责人</a:t>
            </a:r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通讯安全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MQTT TLS / 证书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现状：明文上行 ThingsBoard。待决策：双向 TLS + 证书轮转方案。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负责：云平台 + 安全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Modbus 防伪指令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现状：寄存器读写无鉴权。待决策：是否加 ACL 白名单 / VLAN 隔离。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负责：运维 + 网络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远程升级回滚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现状：OTA 流程未定义。待决策：A/B 分区 + 灰度发布策略。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负责：EMS + DevOps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5349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接地与合规 / 接口语义</a:t>
            </a:r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接地与浪涌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现状：DC 母线接地方案未冻结。待决策：IT/TN-S 选择 + SPD 等级。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负责：电气 + 现场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英标合规 G99 / G100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现状：PCS 自带 G99 但未对站级出口测试。待决策：哪一项由站集成方报检。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负责：PCS 厂商 + EPC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OCPP 接口语义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现状：P_gun_pool_max 单位 / 刷新率未对齐。待决策：与 SiteSupervisor 选型方共同 freeze。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　负责：EMS + OCPP 选型方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19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20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40AF"/>
                </a:solidFill>
              </a:rPr>
              <a:t>04c</a:t>
            </a:r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开放问题（v0.3 状态）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v0.2 遗留问题在 v0.3 拍板情况；✓ 已闭环 / ? 待办</a:t>
            </a:r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已闭环 ✓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✓ DC 母线电压控制归属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划归 PCS 厂商；EMS 不参与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✓ advisory_weight 语义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线性缩放套利项；不影响 A-1/A-2/B-1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✓ by_band_hour 结构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定长 24 数组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✓ BESS 功率符号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充 +、放 −（与 P_pcs 同号）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✓ OCPP 总盘子边界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EMS 只下发 P_gun_pool_max，per-枪由站控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5349240" cy="484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5349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待办 ?</a:t>
            </a:r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? PV 容量定型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等场地确认；影响 B-1 / C-1 上限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? MIC base margin 默认值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5 kW 试运行 1 月后回调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? 孤岛模式触发判据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电网失压检测时间窗（&lt;2s vs &lt;5s）待 PCS 厂商确认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? Shadow delta 上报频次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每协调环 vs 每分钟聚合 — 看带宽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? MQTT / Modbus / 合规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　见 04b 讨论件，task #8 跟踪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20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69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D271A0D-7716-9A4C-838A-6164E873722E}"/>
              </a:ext>
            </a:extLst>
          </p:cNvPr>
          <p:cNvSpPr/>
          <p:nvPr/>
        </p:nvSpPr>
        <p:spPr>
          <a:xfrm>
            <a:off x="635000" y="5765800"/>
            <a:ext cx="10909300" cy="4318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AB8108-7C31-784B-A8AD-033DABA6661E}"/>
              </a:ext>
            </a:extLst>
          </p:cNvPr>
          <p:cNvSpPr/>
          <p:nvPr/>
        </p:nvSpPr>
        <p:spPr>
          <a:xfrm>
            <a:off x="635000" y="5334000"/>
            <a:ext cx="10909300" cy="431800"/>
          </a:xfrm>
          <a:prstGeom prst="rect">
            <a:avLst/>
          </a:prstGeom>
          <a:solidFill>
            <a:srgbClr val="F8FAFC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801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新旧关键差异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决策模型 / 状态机 / 接口 / 可扩展性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4415" y="411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34095" y="365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v0.3 · 技术交流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solidFill>
            <a:srgbClr val="0F2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维度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上一代 telcoman（光储能）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新一代 v0.3（光储充）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79600"/>
            <a:ext cx="10911535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8796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决策模型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8796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6 布尔输入 → 7 mode 真值表（离散）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18796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A/B/C 优先级 + D 兜底（连续）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11400"/>
            <a:ext cx="10911535" cy="431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3114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云端职责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23114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下发 mode 索引 + 数值参数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2311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下发 SOC band + allow_* + weight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743200"/>
            <a:ext cx="10911535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本地自治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27432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弱：mode 由云选择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7432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强：A/B/C/D 本地跑，云只解锁套利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175000"/>
            <a:ext cx="10911535" cy="431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1750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状态机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31750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M0–M6 共 7 mode 作控制指令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31750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6 系统态（含 ISLAND_AC）+ SOFT/HARD HOLD 双档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06800"/>
            <a:ext cx="10911535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6068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MIC 守门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36068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上下限阈值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36068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200 ms 反馈式，以 PoC 为准，不预测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038600"/>
            <a:ext cx="10911535" cy="431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40386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EV 充电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80360" y="40386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40386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OCPP 协议 + 总盘子下发，桩自分配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470400"/>
            <a:ext cx="10911535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44704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影子模式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80360" y="44704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无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4470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advisory_weight=0 即影子，记录 delta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902200"/>
            <a:ext cx="10911535" cy="431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" y="4902200"/>
            <a:ext cx="21031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可扩展性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80360" y="4902200"/>
            <a:ext cx="40233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加场景需扩真值表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95160" y="49022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加场景只在 A/B/C 加项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22 / 22</a:t>
            </a: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BE3DC4-CF1C-934D-9B0D-C82FE4EB874D}"/>
              </a:ext>
            </a:extLst>
          </p:cNvPr>
          <p:cNvSpPr txBox="1"/>
          <p:nvPr/>
        </p:nvSpPr>
        <p:spPr>
          <a:xfrm>
            <a:off x="774700" y="53340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0F172A"/>
                </a:solidFill>
              </a:rPr>
              <a:t>孤岛模式</a:t>
            </a:r>
            <a:endParaRPr lang="en-US" sz="1200" b="1">
              <a:solidFill>
                <a:srgbClr val="0F172A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91B4D7-7EC8-6445-A3B6-6D9A599C303A}"/>
              </a:ext>
            </a:extLst>
          </p:cNvPr>
          <p:cNvSpPr txBox="1"/>
          <p:nvPr/>
        </p:nvSpPr>
        <p:spPr>
          <a:xfrm>
            <a:off x="2882900" y="5334000"/>
            <a:ext cx="4025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100">
                <a:solidFill>
                  <a:srgbClr val="334155"/>
                </a:solidFill>
              </a:rPr>
              <a:t>无（隐含 </a:t>
            </a:r>
            <a:r>
              <a:rPr lang="en-US" sz="1100">
                <a:solidFill>
                  <a:srgbClr val="334155"/>
                </a:solidFill>
              </a:rPr>
              <a:t>OFFLINE_AUTO）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3F2DE9-C48D-B842-A436-FD6F636FF601}"/>
              </a:ext>
            </a:extLst>
          </p:cNvPr>
          <p:cNvSpPr txBox="1"/>
          <p:nvPr/>
        </p:nvSpPr>
        <p:spPr>
          <a:xfrm>
            <a:off x="6997700" y="53340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100">
                <a:solidFill>
                  <a:srgbClr val="0F172A"/>
                </a:solidFill>
              </a:rPr>
              <a:t>新增 </a:t>
            </a:r>
            <a:r>
              <a:rPr lang="en-US" sz="1100" dirty="0">
                <a:solidFill>
                  <a:srgbClr val="0F172A"/>
                </a:solidFill>
              </a:rPr>
              <a:t>ISLAND_AC：</a:t>
            </a:r>
            <a:r>
              <a:rPr lang="ja-JP" altLang="en-US" sz="1100">
                <a:solidFill>
                  <a:srgbClr val="0F172A"/>
                </a:solidFill>
              </a:rPr>
              <a:t>电网外掉 </a:t>
            </a:r>
            <a:r>
              <a:rPr lang="en-US" altLang="ja-JP" sz="1100" dirty="0">
                <a:solidFill>
                  <a:srgbClr val="0F172A"/>
                </a:solidFill>
              </a:rPr>
              <a:t>/ </a:t>
            </a:r>
            <a:r>
              <a:rPr lang="en-US" sz="1100" dirty="0">
                <a:solidFill>
                  <a:srgbClr val="0F172A"/>
                </a:solidFill>
              </a:rPr>
              <a:t>PCS </a:t>
            </a:r>
            <a:r>
              <a:rPr lang="ja-JP" altLang="en-US" sz="1100">
                <a:solidFill>
                  <a:srgbClr val="0F172A"/>
                </a:solidFill>
              </a:rPr>
              <a:t>失能时站内 </a:t>
            </a:r>
            <a:r>
              <a:rPr lang="en-US" sz="1100" dirty="0">
                <a:solidFill>
                  <a:srgbClr val="0F172A"/>
                </a:solidFill>
              </a:rPr>
              <a:t>AC </a:t>
            </a:r>
            <a:r>
              <a:rPr lang="ja-JP" altLang="en-US" sz="1100">
                <a:solidFill>
                  <a:srgbClr val="0F172A"/>
                </a:solidFill>
              </a:rPr>
              <a:t>断电兜底</a:t>
            </a:r>
            <a:endParaRPr lang="en-US" sz="1100" dirty="0">
              <a:solidFill>
                <a:srgbClr val="0F172A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0FAA2C-EF59-A54A-8E8A-43F91E264E3C}"/>
              </a:ext>
            </a:extLst>
          </p:cNvPr>
          <p:cNvSpPr txBox="1"/>
          <p:nvPr/>
        </p:nvSpPr>
        <p:spPr>
          <a:xfrm>
            <a:off x="774700" y="5765800"/>
            <a:ext cx="21082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F172A"/>
                </a:solidFill>
              </a:rPr>
              <a:t>DC </a:t>
            </a:r>
            <a:r>
              <a:rPr lang="ja-JP" altLang="en-US" sz="1200" b="1">
                <a:solidFill>
                  <a:srgbClr val="0F172A"/>
                </a:solidFill>
              </a:rPr>
              <a:t>母线电压控制</a:t>
            </a:r>
            <a:endParaRPr lang="en-US" sz="1200" b="1">
              <a:solidFill>
                <a:srgbClr val="0F172A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A4F628-9F13-3E45-B5CE-E9EEA89C6144}"/>
              </a:ext>
            </a:extLst>
          </p:cNvPr>
          <p:cNvSpPr txBox="1"/>
          <p:nvPr/>
        </p:nvSpPr>
        <p:spPr>
          <a:xfrm>
            <a:off x="2882900" y="5765800"/>
            <a:ext cx="40259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334155"/>
                </a:solidFill>
              </a:rPr>
              <a:t>EMS </a:t>
            </a:r>
            <a:r>
              <a:rPr lang="ja-JP" altLang="en-US" sz="1100">
                <a:solidFill>
                  <a:srgbClr val="334155"/>
                </a:solidFill>
              </a:rPr>
              <a:t>与 </a:t>
            </a:r>
            <a:r>
              <a:rPr lang="en-US" sz="1100">
                <a:solidFill>
                  <a:srgbClr val="334155"/>
                </a:solidFill>
              </a:rPr>
              <a:t>PCS </a:t>
            </a:r>
            <a:r>
              <a:rPr lang="ja-JP" altLang="en-US" sz="1100">
                <a:solidFill>
                  <a:srgbClr val="334155"/>
                </a:solidFill>
              </a:rPr>
              <a:t>边界含糊</a:t>
            </a:r>
            <a:endParaRPr lang="en-US" sz="1100">
              <a:solidFill>
                <a:srgbClr val="334155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5C76FF-07FC-4341-8FCC-E4CCF632AD29}"/>
              </a:ext>
            </a:extLst>
          </p:cNvPr>
          <p:cNvSpPr txBox="1"/>
          <p:nvPr/>
        </p:nvSpPr>
        <p:spPr>
          <a:xfrm>
            <a:off x="6997700" y="57658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1100">
                <a:solidFill>
                  <a:srgbClr val="0F172A"/>
                </a:solidFill>
              </a:rPr>
              <a:t>明文划归 </a:t>
            </a:r>
            <a:r>
              <a:rPr lang="en-US" sz="1100">
                <a:solidFill>
                  <a:srgbClr val="0F172A"/>
                </a:solidFill>
              </a:rPr>
              <a:t>PCS </a:t>
            </a:r>
            <a:r>
              <a:rPr lang="ja-JP" altLang="en-US" sz="1100">
                <a:solidFill>
                  <a:srgbClr val="0F172A"/>
                </a:solidFill>
              </a:rPr>
              <a:t>厂商；</a:t>
            </a:r>
            <a:r>
              <a:rPr lang="en-US" sz="1100">
                <a:solidFill>
                  <a:srgbClr val="0F172A"/>
                </a:solidFill>
              </a:rPr>
              <a:t>EMS </a:t>
            </a:r>
            <a:r>
              <a:rPr lang="ja-JP" altLang="en-US" sz="1100">
                <a:solidFill>
                  <a:srgbClr val="0F172A"/>
                </a:solidFill>
              </a:rPr>
              <a:t>不参与电压环</a:t>
            </a:r>
            <a:endParaRPr lang="en-US" sz="1100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60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BE3C3F-B939-574E-84EF-42385C5B244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5b55d1c-21e0-44d1-9176-b7fd8cd0b2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3237</Words>
  <Application>Microsoft Macintosh PowerPoint</Application>
  <PresentationFormat>Widescreen</PresentationFormat>
  <Paragraphs>599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Liberation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直流母线光储充 控制系统 · 技术交流 v0.2</dc:title>
  <dc:subject>PptxGenJS Presentation</dc:subject>
  <dc:creator>Claude</dc:creator>
  <cp:lastModifiedBy>Ning Zhang</cp:lastModifiedBy>
  <cp:revision>3</cp:revision>
  <dcterms:created xsi:type="dcterms:W3CDTF">2026-05-12T23:29:22Z</dcterms:created>
  <dcterms:modified xsi:type="dcterms:W3CDTF">2026-05-13T00:03:20Z</dcterms:modified>
</cp:coreProperties>
</file>